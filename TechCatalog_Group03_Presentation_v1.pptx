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8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" name="Google Shape;4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6fec90dd1f2844d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6fec90dd1f2844d9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h6fec90dd1f2844d9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E93F2C21-46BA-B93C-A5A1-7BACC257CF5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8325" y="6626860"/>
            <a:ext cx="923989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Restricted - مقيد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2.png"/><Relationship Id="rId21" Type="http://schemas.openxmlformats.org/officeDocument/2006/relationships/image" Target="../media/image28.png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4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COlVV_u6H1ejn7DJtIAh6GdIXaiOtmUs/vie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49377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41248" y="457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9052560" y="1188720"/>
            <a:ext cx="1828800" cy="365760"/>
          </a:xfrm>
          <a:prstGeom prst="straightConnector1">
            <a:avLst/>
          </a:prstGeom>
          <a:noFill/>
          <a:ln w="12700" cap="flat" cmpd="sng">
            <a:solidFill>
              <a:srgbClr val="2A2C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3"/>
          <p:cNvCxnSpPr/>
          <p:nvPr/>
        </p:nvCxnSpPr>
        <p:spPr>
          <a:xfrm>
            <a:off x="10881360" y="1554480"/>
            <a:ext cx="640080" cy="1554480"/>
          </a:xfrm>
          <a:prstGeom prst="straightConnector1">
            <a:avLst/>
          </a:prstGeom>
          <a:noFill/>
          <a:ln w="12700" cap="flat" cmpd="sng">
            <a:solidFill>
              <a:srgbClr val="2A2C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8595360" y="1188720"/>
            <a:ext cx="457200" cy="2011680"/>
          </a:xfrm>
          <a:prstGeom prst="straightConnector1">
            <a:avLst/>
          </a:prstGeom>
          <a:noFill/>
          <a:ln w="12700" cap="flat" cmpd="sng">
            <a:solidFill>
              <a:srgbClr val="2A2C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>
            <a:off x="8595360" y="3200400"/>
            <a:ext cx="1645920" cy="1280160"/>
          </a:xfrm>
          <a:prstGeom prst="straightConnector1">
            <a:avLst/>
          </a:prstGeom>
          <a:noFill/>
          <a:ln w="12700" cap="flat" cmpd="sng">
            <a:solidFill>
              <a:srgbClr val="2A2C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 rot="10800000" flipH="1">
            <a:off x="10241280" y="3108960"/>
            <a:ext cx="1280160" cy="1371600"/>
          </a:xfrm>
          <a:prstGeom prst="straightConnector1">
            <a:avLst/>
          </a:prstGeom>
          <a:noFill/>
          <a:ln w="12700" cap="flat" cmpd="sng">
            <a:solidFill>
              <a:srgbClr val="2A2C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3"/>
          <p:cNvCxnSpPr/>
          <p:nvPr/>
        </p:nvCxnSpPr>
        <p:spPr>
          <a:xfrm>
            <a:off x="10241280" y="4480560"/>
            <a:ext cx="1554480" cy="1005840"/>
          </a:xfrm>
          <a:prstGeom prst="straightConnector1">
            <a:avLst/>
          </a:prstGeom>
          <a:noFill/>
          <a:ln w="12700" cap="flat" cmpd="sng">
            <a:solidFill>
              <a:srgbClr val="2A2C2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8595360" y="3200400"/>
            <a:ext cx="548640" cy="2468880"/>
          </a:xfrm>
          <a:prstGeom prst="straightConnector1">
            <a:avLst/>
          </a:prstGeom>
          <a:noFill/>
          <a:ln w="12700" cap="flat" cmpd="sng">
            <a:solidFill>
              <a:srgbClr val="2A2C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/>
          <p:cNvSpPr/>
          <p:nvPr/>
        </p:nvSpPr>
        <p:spPr>
          <a:xfrm>
            <a:off x="8759952" y="896112"/>
            <a:ext cx="585216" cy="585216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2E3B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3" descr="/home/claude/deck/icons/smartphon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6256" y="10424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10588752" y="1261872"/>
            <a:ext cx="585216" cy="585216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2E3B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3" descr="/home/claude/deck/icons/monito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35056" y="1408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11228832" y="2816352"/>
            <a:ext cx="585216" cy="585216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2E3B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3" descr="/home/claude/deck/icons/table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75136" y="29626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8302752" y="2907792"/>
            <a:ext cx="585216" cy="585216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2E3B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3" descr="/home/claude/deck/icons/server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49056" y="30540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/>
          <p:nvPr/>
        </p:nvSpPr>
        <p:spPr>
          <a:xfrm>
            <a:off x="9948672" y="4187952"/>
            <a:ext cx="585216" cy="585216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2E3B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3" descr="/home/claude/deck/icons/clou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4976" y="43342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>
            <a:off x="11503152" y="5193792"/>
            <a:ext cx="585216" cy="585216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2E3B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3" descr="/home/claude/deck/icons/databas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49456" y="53400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/>
          <p:nvPr/>
        </p:nvSpPr>
        <p:spPr>
          <a:xfrm>
            <a:off x="8851392" y="5376672"/>
            <a:ext cx="585216" cy="585216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2E3B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3" descr="/home/claude/deck/icons/cpu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97696" y="55229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/>
          <p:nvPr/>
        </p:nvSpPr>
        <p:spPr>
          <a:xfrm>
            <a:off x="548640" y="228600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End-to-End E-Commerce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Pipeline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4160520"/>
            <a:ext cx="5120640" cy="502920"/>
          </a:xfrm>
          <a:prstGeom prst="roundRect">
            <a:avLst>
              <a:gd name="adj" fmla="val 50909"/>
            </a:avLst>
          </a:prstGeom>
          <a:noFill/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548640" y="416052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A4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C7EA46"/>
                </a:solidFill>
                <a:latin typeface="Calibri"/>
                <a:ea typeface="Calibri"/>
                <a:cs typeface="Calibri"/>
                <a:sym typeface="Calibri"/>
              </a:rPr>
              <a:t>TECHCATALOG PLATFORM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548640" y="6174929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rPr>
              <a:t>Saudi Digital Academy — Data Engineering Bootcamp  |  September 2026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C7EA46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548640" y="5193792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Muradi Alshammari   ·   Aseel </a:t>
            </a:r>
            <a:r>
              <a:rPr lang="en-US" sz="170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Aldukhael</a:t>
            </a:r>
            <a:r>
              <a:rPr lang="en-US" sz="170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·   Haneen Alotaibi   ·   Joudi Alharbi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43;p3">
            <a:extLst>
              <a:ext uri="{FF2B5EF4-FFF2-40B4-BE49-F238E27FC236}">
                <a16:creationId xmlns:a16="http://schemas.microsoft.com/office/drawing/2014/main" id="{05211E9E-7D5E-F5CF-520E-C3A1CD572119}"/>
              </a:ext>
            </a:extLst>
          </p:cNvPr>
          <p:cNvSpPr txBox="1"/>
          <p:nvPr/>
        </p:nvSpPr>
        <p:spPr>
          <a:xfrm>
            <a:off x="548640" y="5581358"/>
            <a:ext cx="54864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100"/>
            </a:pPr>
            <a:r>
              <a:rPr lang="en-US" sz="1100" b="1" dirty="0">
                <a:solidFill>
                  <a:srgbClr val="C7EA46"/>
                </a:solidFill>
                <a:latin typeface="Calibri"/>
                <a:ea typeface="Calibri"/>
                <a:cs typeface="Calibri"/>
              </a:rPr>
              <a:t>Supervisors: </a:t>
            </a:r>
            <a:endParaRPr sz="1100" b="1" dirty="0">
              <a:solidFill>
                <a:srgbClr val="C7EA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44;p3">
            <a:extLst>
              <a:ext uri="{FF2B5EF4-FFF2-40B4-BE49-F238E27FC236}">
                <a16:creationId xmlns:a16="http://schemas.microsoft.com/office/drawing/2014/main" id="{38511CB0-B589-C80A-B6D3-D53B50680527}"/>
              </a:ext>
            </a:extLst>
          </p:cNvPr>
          <p:cNvSpPr txBox="1"/>
          <p:nvPr/>
        </p:nvSpPr>
        <p:spPr>
          <a:xfrm>
            <a:off x="548640" y="5883110"/>
            <a:ext cx="78638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Nasr Alani · Maher Selim 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8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WHY THIS PROJECT EXISTS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The Problem and the Solution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1920240"/>
            <a:ext cx="5074920" cy="4160520"/>
          </a:xfrm>
          <a:prstGeom prst="roundRect">
            <a:avLst>
              <a:gd name="adj" fmla="val 2051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4" descr="/home/claude/deck/icons/ale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04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164592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914400" y="3063240"/>
            <a:ext cx="434340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50"/>
              <a:buFont typeface="Arial"/>
              <a:buChar char="•"/>
            </a:pPr>
            <a:r>
              <a:rPr lang="en-US" sz="15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Scattered Data: </a:t>
            </a:r>
            <a:r>
              <a:rPr lang="en-US" sz="15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Difficulty in tracking electronic product prices across multiple fragmented stores and sources.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2000"/>
              </a:lnSpc>
              <a:spcBef>
                <a:spcPts val="1100"/>
              </a:spcBef>
              <a:spcAft>
                <a:spcPts val="0"/>
              </a:spcAft>
              <a:buClr>
                <a:srgbClr val="C0392B"/>
              </a:buClr>
              <a:buSzPts val="1550"/>
              <a:buFont typeface="Arial"/>
              <a:buChar char="•"/>
            </a:pPr>
            <a:r>
              <a:rPr lang="en-US" sz="15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Inconsistent Structure: </a:t>
            </a:r>
            <a:r>
              <a:rPr lang="en-US" sz="15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Non-standardized data formats and product specifications between platforms.</a:t>
            </a:r>
            <a:endParaRPr/>
          </a:p>
          <a:p>
            <a:pPr marL="203200" marR="0" lvl="0" indent="-203200" algn="l" rtl="0">
              <a:lnSpc>
                <a:spcPct val="112000"/>
              </a:lnSpc>
              <a:spcBef>
                <a:spcPts val="1100"/>
              </a:spcBef>
              <a:spcAft>
                <a:spcPts val="1100"/>
              </a:spcAft>
              <a:buClr>
                <a:srgbClr val="C0392B"/>
              </a:buClr>
              <a:buSzPts val="1550"/>
              <a:buFont typeface="Arial"/>
              <a:buChar char="•"/>
            </a:pPr>
            <a:r>
              <a:rPr lang="en-US" sz="15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Complex Comparison: </a:t>
            </a:r>
            <a:r>
              <a:rPr lang="en-US" sz="15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Time-consuming and inefficient effort required to analyze data and make purchasing decisions.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989320" y="1920240"/>
            <a:ext cx="5074920" cy="4160520"/>
          </a:xfrm>
          <a:prstGeom prst="roundRect">
            <a:avLst>
              <a:gd name="adj" fmla="val 2051"/>
            </a:avLst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35508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4" descr="/home/claude/deck/icons/targ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772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 txBox="1"/>
          <p:nvPr/>
        </p:nvSpPr>
        <p:spPr>
          <a:xfrm>
            <a:off x="708660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6355080" y="3063240"/>
            <a:ext cx="434340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7EA46"/>
              </a:buClr>
              <a:buSzPts val="1550"/>
              <a:buFont typeface="Arial"/>
              <a:buChar char="•"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Ingestion: </a:t>
            </a:r>
            <a:r>
              <a:rPr lang="en-US" sz="1550" b="0" i="0" u="none" strike="noStrike" cap="non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An automated Data Pipeline that gathers prices and specifications seamlessly.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lnSpc>
                <a:spcPct val="112000"/>
              </a:lnSpc>
              <a:spcBef>
                <a:spcPts val="1100"/>
              </a:spcBef>
              <a:spcAft>
                <a:spcPts val="0"/>
              </a:spcAft>
              <a:buClr>
                <a:srgbClr val="C7EA46"/>
              </a:buClr>
              <a:buSzPts val="1550"/>
              <a:buFont typeface="Arial"/>
              <a:buChar char="•"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Standardization: </a:t>
            </a:r>
            <a:r>
              <a:rPr lang="en-US" sz="1550" b="0" i="0" u="none" strike="noStrike" cap="non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Cleaning and unifying product data into a single consolidated model.</a:t>
            </a:r>
            <a:endParaRPr/>
          </a:p>
          <a:p>
            <a:pPr marL="203200" marR="0" lvl="0" indent="-203200" algn="l" rtl="0">
              <a:lnSpc>
                <a:spcPct val="112000"/>
              </a:lnSpc>
              <a:spcBef>
                <a:spcPts val="1100"/>
              </a:spcBef>
              <a:spcAft>
                <a:spcPts val="1100"/>
              </a:spcAft>
              <a:buClr>
                <a:srgbClr val="C7EA46"/>
              </a:buClr>
              <a:buSzPts val="1550"/>
              <a:buFont typeface="Arial"/>
              <a:buChar char="•"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Data-Driven Decision: </a:t>
            </a:r>
            <a:r>
              <a:rPr lang="en-US" sz="1550" b="0" i="0" u="none" strike="noStrike" cap="non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Interactive Power BI dashboard enabling users to instantly spot the best deals.</a:t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PRICE COMPARISON</a:t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One Laptop. Three Prices.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68680" y="1828800"/>
            <a:ext cx="4389120" cy="2834640"/>
          </a:xfrm>
          <a:prstGeom prst="roundRect">
            <a:avLst>
              <a:gd name="adj" fmla="val 5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05840" y="1993392"/>
            <a:ext cx="4114800" cy="2542032"/>
          </a:xfrm>
          <a:prstGeom prst="roundRect">
            <a:avLst>
              <a:gd name="adj" fmla="val 2000"/>
            </a:avLst>
          </a:prstGeom>
          <a:solidFill>
            <a:srgbClr val="2A2C3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035808" y="1892807"/>
            <a:ext cx="54864" cy="54864"/>
          </a:xfrm>
          <a:prstGeom prst="ellipse">
            <a:avLst/>
          </a:prstGeom>
          <a:solidFill>
            <a:srgbClr val="3A3C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514600" y="2834640"/>
            <a:ext cx="292608" cy="256032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2880360" y="278892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240280" y="3593591"/>
            <a:ext cx="384048" cy="566928"/>
          </a:xfrm>
          <a:prstGeom prst="roundRect">
            <a:avLst>
              <a:gd name="adj" fmla="val 12000"/>
            </a:avLst>
          </a:prstGeom>
          <a:solidFill>
            <a:srgbClr val="5B5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807208" y="3429000"/>
            <a:ext cx="384048" cy="731520"/>
          </a:xfrm>
          <a:prstGeom prst="roundRect">
            <a:avLst>
              <a:gd name="adj" fmla="val 12000"/>
            </a:avLst>
          </a:prstGeom>
          <a:solidFill>
            <a:srgbClr val="5B5F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374136" y="3749039"/>
            <a:ext cx="384048" cy="411480"/>
          </a:xfrm>
          <a:prstGeom prst="roundRect">
            <a:avLst>
              <a:gd name="adj" fmla="val 12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02920" y="4663440"/>
            <a:ext cx="5120640" cy="219456"/>
          </a:xfrm>
          <a:prstGeom prst="trapezoid">
            <a:avLst>
              <a:gd name="adj" fmla="val 25000"/>
            </a:avLst>
          </a:prstGeom>
          <a:solidFill>
            <a:srgbClr val="C9C9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697480" y="4663440"/>
            <a:ext cx="731520" cy="64008"/>
          </a:xfrm>
          <a:prstGeom prst="roundRect">
            <a:avLst>
              <a:gd name="adj" fmla="val 50000"/>
            </a:avLst>
          </a:prstGeom>
          <a:solidFill>
            <a:srgbClr val="A9A9A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502920" y="5138928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MacBook Pro 16"</a:t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502920" y="55778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Same product  ·  3 sources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897880" y="1783080"/>
            <a:ext cx="5742432" cy="1051560"/>
          </a:xfrm>
          <a:prstGeom prst="roundRect">
            <a:avLst>
              <a:gd name="adj" fmla="val 10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172200" y="2025395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0216" y="21534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/>
          <p:nvPr/>
        </p:nvSpPr>
        <p:spPr>
          <a:xfrm>
            <a:off x="6949440" y="197967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Amazon KSA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6949440" y="23454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MacBook Pro 16"</a:t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9006840" y="1783080"/>
            <a:ext cx="235915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8,799 SAR</a:t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897880" y="3017520"/>
            <a:ext cx="5742432" cy="1051560"/>
          </a:xfrm>
          <a:prstGeom prst="roundRect">
            <a:avLst>
              <a:gd name="adj" fmla="val 10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172200" y="3259836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0216" y="338785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6949440" y="321411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Amazon US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6949440" y="35798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MacBook Pro 16"</a:t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9006840" y="3017520"/>
            <a:ext cx="235915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9,100 SAR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897880" y="4526280"/>
            <a:ext cx="5742432" cy="128016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 w="285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172200" y="4882896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0216" y="50109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6949440" y="483717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Shopping</a:t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6949440" y="52029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MacBook Pro 16"</a:t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9006840" y="4526280"/>
            <a:ext cx="235915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C7EA46"/>
                </a:solidFill>
                <a:latin typeface="Cambria"/>
                <a:ea typeface="Cambria"/>
                <a:cs typeface="Cambria"/>
                <a:sym typeface="Cambria"/>
              </a:rPr>
              <a:t>8,399 SAR</a:t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8549640" y="4334256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714232" y="4434840"/>
            <a:ext cx="201168" cy="173736"/>
          </a:xfrm>
          <a:prstGeom prst="triangle">
            <a:avLst>
              <a:gd name="adj" fmla="val 50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8988552" y="4334256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Best Price via TechCatalog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548640" y="67665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48640" y="91440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Azure-Native Data Platform 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583680" y="1024128"/>
            <a:ext cx="50566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RapidAPI  ·  Azure Databricks  ·  Azure Data Lake Gen2 (ADLS)  ·  Power BI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1499616"/>
            <a:ext cx="11091672" cy="859536"/>
          </a:xfrm>
          <a:prstGeom prst="roundRect">
            <a:avLst>
              <a:gd name="adj" fmla="val 8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777240" y="156362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ORCHESTRATION &amp; MONITORING  ·  AZURE DATABRICKS WORKFLOWS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77240" y="1819656"/>
            <a:ext cx="420624" cy="42062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 descr="cal_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602" y="1929018"/>
            <a:ext cx="201899" cy="201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1307592" y="179222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Daily Job Trigger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1307592" y="2020824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Daily Databricks Job run (10:00 AM Riyadh)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493008" y="1819656"/>
            <a:ext cx="420624" cy="42062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6" descr="lock_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2370" y="1929018"/>
            <a:ext cx="201899" cy="201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4023360" y="179222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Azure Key Vault &amp; Secrets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4023360" y="2020824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Encrypted API keys, never hard-coded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08776" y="1819656"/>
            <a:ext cx="420624" cy="42062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6" descr="refresh_l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8138" y="1929018"/>
            <a:ext cx="201899" cy="201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6739128" y="179222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Retry &amp; Error Handling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6739128" y="2020824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Auto-recovers from rate limits/errors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924544" y="1819656"/>
            <a:ext cx="420624" cy="42062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 descr="monitor_l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33906" y="1929018"/>
            <a:ext cx="201899" cy="201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9454896" y="179222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Job Run History &amp;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9454896" y="2020824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Tracks run status, failure alerts &amp; logs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48640" y="2487168"/>
            <a:ext cx="1783080" cy="2633472"/>
          </a:xfrm>
          <a:prstGeom prst="roundRect">
            <a:avLst>
              <a:gd name="adj" fmla="val 3000"/>
            </a:avLst>
          </a:prstGeom>
          <a:noFill/>
          <a:ln w="12700" cap="flat" cmpd="sng">
            <a:solidFill>
              <a:srgbClr val="5B5F66"/>
            </a:solidFill>
            <a:prstDash val="dash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658368" y="2560320"/>
            <a:ext cx="15636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58368" y="2871216"/>
            <a:ext cx="1563624" cy="658368"/>
          </a:xfrm>
          <a:prstGeom prst="roundRect">
            <a:avLst>
              <a:gd name="adj" fmla="val 12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749808" y="2907792"/>
            <a:ext cx="141731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C7EA46"/>
                </a:solidFill>
                <a:latin typeface="Calibri"/>
                <a:ea typeface="Calibri"/>
                <a:cs typeface="Calibri"/>
                <a:sym typeface="Calibri"/>
              </a:rPr>
              <a:t>POWERED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49808" y="3063240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0055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6" descr="plug_w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6018" y="3099450"/>
            <a:ext cx="128747" cy="128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005840" y="306324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RapidAPI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49808" y="328726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6" descr="cart_w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6018" y="3323478"/>
            <a:ext cx="128747" cy="128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1005840" y="32872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Amazon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437436" y="328726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6" descr="search_w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73647" y="3323478"/>
            <a:ext cx="128747" cy="128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1693468" y="328726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58368" y="3621024"/>
            <a:ext cx="1563624" cy="1408175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31519" y="3694176"/>
            <a:ext cx="274320" cy="274320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731519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6" descr="cart_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74519" y="36941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713232" y="4005072"/>
            <a:ext cx="1453895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Google Shopping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&amp; Amazon APIs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722376" y="4443984"/>
            <a:ext cx="143560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Via RapidAPI / Token-auth product &amp; price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350008" y="4224528"/>
            <a:ext cx="13716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FA8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505456" y="2487168"/>
            <a:ext cx="1783080" cy="2633472"/>
          </a:xfrm>
          <a:prstGeom prst="roundRect">
            <a:avLst>
              <a:gd name="adj" fmla="val 3000"/>
            </a:avLst>
          </a:prstGeom>
          <a:noFill/>
          <a:ln w="12700" cap="flat" cmpd="sng">
            <a:solidFill>
              <a:srgbClr val="5B5F66"/>
            </a:solidFill>
            <a:prstDash val="dash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2615184" y="2560320"/>
            <a:ext cx="15636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INGESTION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615184" y="2871216"/>
            <a:ext cx="1563624" cy="658368"/>
          </a:xfrm>
          <a:prstGeom prst="roundRect">
            <a:avLst>
              <a:gd name="adj" fmla="val 12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2706624" y="2907792"/>
            <a:ext cx="141731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C7EA46"/>
                </a:solidFill>
                <a:latin typeface="Calibri"/>
                <a:ea typeface="Calibri"/>
                <a:cs typeface="Calibri"/>
                <a:sym typeface="Calibri"/>
              </a:rPr>
              <a:t>POWERED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706025" y="3127375"/>
            <a:ext cx="2019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6" descr="logo_python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06268" y="3153060"/>
            <a:ext cx="201900" cy="20440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2953556" y="3185965"/>
            <a:ext cx="1463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615184" y="3621024"/>
            <a:ext cx="1563624" cy="1408175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688336" y="3694176"/>
            <a:ext cx="274320" cy="274320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2688336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6" descr="dl_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831336" y="36941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2670048" y="4005072"/>
            <a:ext cx="1453895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Fetch &amp; Ingest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2679191" y="4443984"/>
            <a:ext cx="143560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5 categories, daily batch, JSON raw payload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306823" y="4224528"/>
            <a:ext cx="13716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FA8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462272" y="2487168"/>
            <a:ext cx="5221224" cy="2633472"/>
          </a:xfrm>
          <a:prstGeom prst="roundRect">
            <a:avLst>
              <a:gd name="adj" fmla="val 3000"/>
            </a:avLst>
          </a:prstGeom>
          <a:noFill/>
          <a:ln w="12700" cap="flat" cmpd="sng">
            <a:solidFill>
              <a:srgbClr val="5B5F66"/>
            </a:solidFill>
            <a:prstDash val="dash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4572000" y="2560320"/>
            <a:ext cx="500176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STORAGE &amp; PROCESSING</a:t>
            </a:r>
            <a:r>
              <a:rPr lang="en-US" sz="10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  (Azure Data Lake Storage Gen2)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0" y="2871216"/>
            <a:ext cx="5001768" cy="658368"/>
          </a:xfrm>
          <a:prstGeom prst="roundRect">
            <a:avLst>
              <a:gd name="adj" fmla="val 12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4663440" y="2907792"/>
            <a:ext cx="485546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C7EA46"/>
                </a:solidFill>
                <a:latin typeface="Calibri"/>
                <a:ea typeface="Calibri"/>
                <a:cs typeface="Calibri"/>
                <a:sym typeface="Calibri"/>
              </a:rPr>
              <a:t>POWERED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663440" y="3145536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6" descr="logo_azur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94163" y="3202673"/>
            <a:ext cx="194584" cy="14175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4974336" y="31455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ADLS Gen2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728716" y="3145536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6" descr="logo_delta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59439" y="3179260"/>
            <a:ext cx="194584" cy="18858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6039612" y="31455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Delta Lake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862572" y="3145536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F36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6" descr="layers_w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08657" y="3191621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7173468" y="31455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Databricks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407908" y="3145536"/>
            <a:ext cx="537667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6" descr="logo_spark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90513" y="3176259"/>
            <a:ext cx="372455" cy="19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9000439" y="31455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0" y="3621024"/>
            <a:ext cx="1168146" cy="1408175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645152" y="3694176"/>
            <a:ext cx="274320" cy="274320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4645152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374386" y="3685032"/>
            <a:ext cx="292608" cy="292608"/>
          </a:xfrm>
          <a:prstGeom prst="ellipse">
            <a:avLst/>
          </a:prstGeom>
          <a:solidFill>
            <a:srgbClr val="8A8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6" descr="file_w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429250" y="3739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4626864" y="4005072"/>
            <a:ext cx="105841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Raw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(Bronze Ingestion)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4636008" y="4443984"/>
            <a:ext cx="1040130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Timestamped JSON files in bronze_path, append mode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749290" y="4251960"/>
            <a:ext cx="91440" cy="12801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C9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849874" y="3621024"/>
            <a:ext cx="1168146" cy="1408175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923026" y="3694176"/>
            <a:ext cx="274320" cy="274320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5923026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652260" y="3685032"/>
            <a:ext cx="292608" cy="292608"/>
          </a:xfrm>
          <a:prstGeom prst="ellipse">
            <a:avLst/>
          </a:prstGeom>
          <a:solidFill>
            <a:srgbClr val="B87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6" descr="db_w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707124" y="3739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5904738" y="4005072"/>
            <a:ext cx="105841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Bronze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(History Storage)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5913882" y="4443984"/>
            <a:ext cx="1040130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Delta format, append raw with ingestion_timestamp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027164" y="4251960"/>
            <a:ext cx="91440" cy="12801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C9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127748" y="3621024"/>
            <a:ext cx="1168146" cy="1408175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7200900" y="3694176"/>
            <a:ext cx="274320" cy="274320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200900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930134" y="3685032"/>
            <a:ext cx="292608" cy="292608"/>
          </a:xfrm>
          <a:prstGeom prst="ellipse">
            <a:avLst/>
          </a:prstGeom>
          <a:solidFill>
            <a:srgbClr val="9EA0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6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984998" y="3739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6"/>
          <p:cNvSpPr txBox="1"/>
          <p:nvPr/>
        </p:nvSpPr>
        <p:spPr>
          <a:xfrm>
            <a:off x="7182612" y="4005072"/>
            <a:ext cx="105841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Silver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(Cleaned &amp; Unified)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7191756" y="4443984"/>
            <a:ext cx="1040130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Drop duplicates, fillna (rating, availability), Merge / Incremental load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8305038" y="4251960"/>
            <a:ext cx="91440" cy="12801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C9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405622" y="3621024"/>
            <a:ext cx="1168146" cy="1408175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478774" y="3694176"/>
            <a:ext cx="274320" cy="274320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8478774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9208008" y="3685032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6" descr="star_w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262872" y="37398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8460486" y="4005072"/>
            <a:ext cx="105841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Gold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(Star Schema)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8469630" y="4443984"/>
            <a:ext cx="1040130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Star Schema: gold_dim_product, gold_fact_products tables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9701784" y="4224528"/>
            <a:ext cx="13716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FA8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9857232" y="2487168"/>
            <a:ext cx="1783080" cy="2633472"/>
          </a:xfrm>
          <a:prstGeom prst="roundRect">
            <a:avLst>
              <a:gd name="adj" fmla="val 3000"/>
            </a:avLst>
          </a:prstGeom>
          <a:noFill/>
          <a:ln w="12700" cap="flat" cmpd="sng">
            <a:solidFill>
              <a:srgbClr val="5B5F66"/>
            </a:solidFill>
            <a:prstDash val="dash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9966960" y="2560320"/>
            <a:ext cx="15636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9966960" y="2871216"/>
            <a:ext cx="1563624" cy="658368"/>
          </a:xfrm>
          <a:prstGeom prst="roundRect">
            <a:avLst>
              <a:gd name="adj" fmla="val 12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10058400" y="2907792"/>
            <a:ext cx="141731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C7EA46"/>
                </a:solidFill>
                <a:latin typeface="Calibri"/>
                <a:ea typeface="Calibri"/>
                <a:cs typeface="Calibri"/>
                <a:sym typeface="Calibri"/>
              </a:rPr>
              <a:t>POWERED BY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0058400" y="3145536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B4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6" descr="chart_w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04485" y="3191621"/>
            <a:ext cx="163860" cy="1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 txBox="1"/>
          <p:nvPr/>
        </p:nvSpPr>
        <p:spPr>
          <a:xfrm>
            <a:off x="10369296" y="314553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966960" y="3621024"/>
            <a:ext cx="1563624" cy="1408175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0040112" y="3694176"/>
            <a:ext cx="274320" cy="274320"/>
          </a:xfrm>
          <a:prstGeom prst="ellipse">
            <a:avLst/>
          </a:prstGeom>
          <a:solidFill>
            <a:srgbClr val="17181A"/>
          </a:solidFill>
          <a:ln w="12700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10040112" y="36941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6" descr="chart_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1183111" y="36941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 txBox="1"/>
          <p:nvPr/>
        </p:nvSpPr>
        <p:spPr>
          <a:xfrm>
            <a:off x="10021824" y="4005072"/>
            <a:ext cx="1453895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10030968" y="4443984"/>
            <a:ext cx="143560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Price comparison &amp; market KPIs for stakeholders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48640" y="52120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DATA GOVERNANCE &amp; DEVOPS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48640" y="5458968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76656" y="5532120"/>
            <a:ext cx="329184" cy="32918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6" descr="shield_l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62243" y="5617707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6"/>
          <p:cNvSpPr txBox="1"/>
          <p:nvPr/>
        </p:nvSpPr>
        <p:spPr>
          <a:xfrm>
            <a:off x="1097280" y="55321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676656" y="5916168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E4E4E0"/>
                </a:solidFill>
                <a:latin typeface="Calibri"/>
                <a:ea typeface="Calibri"/>
                <a:cs typeface="Calibri"/>
                <a:sym typeface="Calibri"/>
              </a:rPr>
              <a:t>Delta ACID transactions; every batch validated before commits.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364992" y="5458968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3493008" y="5532120"/>
            <a:ext cx="329184" cy="32918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6" descr="layers_l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3578595" y="5617707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 txBox="1"/>
          <p:nvPr/>
        </p:nvSpPr>
        <p:spPr>
          <a:xfrm>
            <a:off x="3913632" y="55321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3493008" y="5916168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E4E4E0"/>
                </a:solidFill>
                <a:latin typeface="Calibri"/>
                <a:ea typeface="Calibri"/>
                <a:cs typeface="Calibri"/>
                <a:sym typeface="Calibri"/>
              </a:rPr>
              <a:t>Raw → Bronze → Silver → Gold, unidirectional, no direct edits.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181344" y="5458968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309359" y="5532120"/>
            <a:ext cx="329184" cy="32918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6" descr="lock_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4947" y="5617707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6"/>
          <p:cNvSpPr txBox="1"/>
          <p:nvPr/>
        </p:nvSpPr>
        <p:spPr>
          <a:xfrm>
            <a:off x="6729983" y="55321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&amp; Secrets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6309359" y="5916168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E4E4E0"/>
                </a:solidFill>
                <a:latin typeface="Calibri"/>
                <a:ea typeface="Calibri"/>
                <a:cs typeface="Calibri"/>
                <a:sym typeface="Calibri"/>
              </a:rPr>
              <a:t>Unity Catalog permissions; key Vault and Databricks secrets.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8997696" y="5458968"/>
            <a:ext cx="2642616" cy="914400"/>
          </a:xfrm>
          <a:prstGeom prst="roundRect">
            <a:avLst>
              <a:gd name="adj" fmla="val 6000"/>
            </a:avLst>
          </a:prstGeom>
          <a:solidFill>
            <a:srgbClr val="1718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9125712" y="5532120"/>
            <a:ext cx="329184" cy="32918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6" descr="git_l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9211299" y="5617707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6"/>
          <p:cNvSpPr txBox="1"/>
          <p:nvPr/>
        </p:nvSpPr>
        <p:spPr>
          <a:xfrm>
            <a:off x="9546336" y="55321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Versioning &amp; Ops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9125712" y="5916168"/>
            <a:ext cx="24231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E4E4E0"/>
                </a:solidFill>
                <a:latin typeface="Calibri"/>
                <a:ea typeface="Calibri"/>
                <a:cs typeface="Calibri"/>
                <a:sym typeface="Calibri"/>
              </a:rPr>
              <a:t>Single orchestrated workflow; CI/CD pipeline on GitHub.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8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STEP 3 · AUTOMATION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Pipeline Orchestration and Automation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548640" y="1783080"/>
            <a:ext cx="3593592" cy="4343400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914400" y="2240280"/>
            <a:ext cx="777240" cy="7772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7" descr="refresh_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" y="244144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/>
        </p:nvSpPr>
        <p:spPr>
          <a:xfrm>
            <a:off x="914400" y="3383280"/>
            <a:ext cx="28620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Automated End-to-End Orchestration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914400" y="4389120"/>
            <a:ext cx="28620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Managed via Databricks Workflows (scheduled jobs) with seamless execution and no manual intervention.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4297680" y="1783080"/>
            <a:ext cx="3593592" cy="4343400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663440" y="2240280"/>
            <a:ext cx="777240" cy="7772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7" descr="git_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4608" y="244144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4663440" y="3383280"/>
            <a:ext cx="28620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Sequential Task Dependency (DAG Flow)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4663440" y="4389120"/>
            <a:ext cx="28620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API ingestion secured with Azure Key Vault tokens, then processed in order across Bronze → Silver → Gold.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046720" y="1783080"/>
            <a:ext cx="3593592" cy="4343400"/>
          </a:xfrm>
          <a:prstGeom prst="roundRect">
            <a:avLst>
              <a:gd name="adj" fmla="val 5000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8412480" y="2240280"/>
            <a:ext cx="777240" cy="7772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7" descr="shield_l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13648" y="2441448"/>
            <a:ext cx="374904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7"/>
          <p:cNvSpPr txBox="1"/>
          <p:nvPr/>
        </p:nvSpPr>
        <p:spPr>
          <a:xfrm>
            <a:off x="8412480" y="3383280"/>
            <a:ext cx="28620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Enterprise Reliability &amp; Monitoring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8412480" y="4389120"/>
            <a:ext cx="286207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Built-in retries and failure logging auto-refresh the Gold star schema that feeds Power BI.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8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CHALLENGES &amp; SOLUTIONS  ·  1 OF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Multi-Market Data &amp; Currency Normalization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48640" y="19202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8" descr="/home/claude/deck/icons/ale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04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 txBox="1"/>
          <p:nvPr/>
        </p:nvSpPr>
        <p:spPr>
          <a:xfrm>
            <a:off x="164592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The Challenge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914400" y="3017520"/>
            <a:ext cx="4343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800"/>
              <a:buFont typeface="Calibri"/>
              <a:buNone/>
            </a:pPr>
            <a:r>
              <a:rPr lang="en-US" sz="19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We integrated data from both the US and SA markets, but the conflicting currencies (Dollars vs. Riyals) made it impossible to compare prices accurately.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989320" y="19202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35508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8" descr="/home/claude/deck/icons/targ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772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8"/>
          <p:cNvSpPr txBox="1"/>
          <p:nvPr/>
        </p:nvSpPr>
        <p:spPr>
          <a:xfrm>
            <a:off x="708660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6355080" y="3017520"/>
            <a:ext cx="4343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FCF"/>
              </a:buClr>
              <a:buSzPts val="1800"/>
              <a:buFont typeface="Calibri"/>
              <a:buNone/>
            </a:pPr>
            <a:r>
              <a:rPr lang="en-US" sz="1900" b="0" i="0" u="none" strike="noStrike" cap="non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We built an automated step during the data cleaning phase that detects the currency type and instantly converts all prices to Saudi Riyals (SAR) for a fair and accurate comparison.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8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CHALLENGES &amp; SOLUTIONS  ·  2 OF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Smart Data Categorization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48640" y="19202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9" descr="/home/claude/deck/icons/ale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04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 txBox="1"/>
          <p:nvPr/>
        </p:nvSpPr>
        <p:spPr>
          <a:xfrm>
            <a:off x="164592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The Challenge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914400" y="3017520"/>
            <a:ext cx="4343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800"/>
              <a:buFont typeface="Calibri"/>
              <a:buNone/>
            </a:pPr>
            <a:r>
              <a:rPr lang="en-US" sz="19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The original data did not specify the product type, causing the dashboard to group all devices (Laptops, Phones, Tablets) into one messy "Other" category.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989320" y="19202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35508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9" descr="/home/claude/deck/icons/targ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772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9"/>
          <p:cNvSpPr txBox="1"/>
          <p:nvPr/>
        </p:nvSpPr>
        <p:spPr>
          <a:xfrm>
            <a:off x="708660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6355080" y="3017520"/>
            <a:ext cx="4343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FCF"/>
              </a:buClr>
              <a:buSzPts val="1800"/>
              <a:buFont typeface="Calibri"/>
              <a:buNone/>
            </a:pPr>
            <a:r>
              <a:rPr lang="en-US" sz="1900" b="0" i="0" u="none" strike="noStrike" cap="non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We developed a smart rule that reads the product titles, identifies keywords, and automatically organizes every product into its correct category before sending it to the dashboard.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8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CHALLENGES &amp; SOLUTIONS  ·  3 OF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Ensuring Dashboard Reliability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48640" y="19202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10" descr="/home/claude/deck/icons/ale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04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0"/>
          <p:cNvSpPr txBox="1"/>
          <p:nvPr/>
        </p:nvSpPr>
        <p:spPr>
          <a:xfrm>
            <a:off x="164592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The Challenge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914400" y="3017520"/>
            <a:ext cx="4343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800"/>
              <a:buFont typeface="Calibri"/>
              <a:buNone/>
            </a:pPr>
            <a:r>
              <a:rPr lang="en-US" sz="190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The dashboard frequently failed to refresh due to hidden duplicate records and historical data conflicts coming from the source.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989320" y="19202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355080" y="2286000"/>
            <a:ext cx="548640" cy="548640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10" descr="/home/claude/deck/icons/targe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7726" y="24286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 txBox="1"/>
          <p:nvPr/>
        </p:nvSpPr>
        <p:spPr>
          <a:xfrm>
            <a:off x="7086600" y="230428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6355080" y="3017520"/>
            <a:ext cx="4343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CFCF"/>
              </a:buClr>
              <a:buSzPts val="1800"/>
              <a:buFont typeface="Calibri"/>
              <a:buNone/>
            </a:pPr>
            <a:r>
              <a:rPr lang="en-US" sz="1900" b="0" i="0" u="none" strike="noStrike" cap="non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We set up strict data validation rules to automatically remove any duplicates and clear out conflicting old records, ensuring the final dashboard runs smoothly and updates without any errors.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7181A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8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STEP 4 · CONSUMPTION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Business Intelligence and Power BI Analytics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48640" y="187452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04672" y="2093976"/>
            <a:ext cx="512064" cy="51206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1" descr="/home/claude/deck/icons/ba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809" y="222711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1"/>
          <p:cNvSpPr txBox="1"/>
          <p:nvPr/>
        </p:nvSpPr>
        <p:spPr>
          <a:xfrm>
            <a:off x="1463040" y="20574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750"/>
              <a:buFont typeface="Cambria"/>
              <a:buNone/>
            </a:pPr>
            <a:r>
              <a:rPr lang="en-US" sz="175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Executive KPIs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1463040" y="245059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Total products, average price and rating — refreshed daily from Gold tables.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48640" y="342900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804672" y="3648456"/>
            <a:ext cx="512064" cy="51206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11" descr="/home/claude/deck/icons/trend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809" y="378159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1"/>
          <p:cNvSpPr txBox="1"/>
          <p:nvPr/>
        </p:nvSpPr>
        <p:spPr>
          <a:xfrm>
            <a:off x="1463040" y="36118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mbria"/>
              <a:buNone/>
            </a:pPr>
            <a:r>
              <a:rPr lang="en-US" sz="175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Price &amp; Market Analytics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1463040" y="400507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CFC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Price benchmarking by brand and category across every source.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548640" y="498348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F1F1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804672" y="5202936"/>
            <a:ext cx="512064" cy="512064"/>
          </a:xfrm>
          <a:prstGeom prst="ellipse">
            <a:avLst/>
          </a:prstGeom>
          <a:solidFill>
            <a:srgbClr val="17181A"/>
          </a:solidFill>
          <a:ln w="15875" cap="flat" cmpd="sng">
            <a:solidFill>
              <a:srgbClr val="C7EA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11" descr="/home/claude/deck/icons/gri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7809" y="533607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1"/>
          <p:cNvSpPr txBox="1"/>
          <p:nvPr/>
        </p:nvSpPr>
        <p:spPr>
          <a:xfrm>
            <a:off x="1463040" y="51663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81A"/>
              </a:buClr>
              <a:buSzPts val="1750"/>
              <a:buFont typeface="Cambria"/>
              <a:buNone/>
            </a:pPr>
            <a:r>
              <a:rPr lang="en-US" sz="1750" b="1" i="0" u="none" strike="noStrike" cap="none">
                <a:solidFill>
                  <a:srgbClr val="17181A"/>
                </a:solidFill>
                <a:latin typeface="Cambria"/>
                <a:ea typeface="Cambria"/>
                <a:cs typeface="Cambria"/>
                <a:sym typeface="Cambria"/>
              </a:rPr>
              <a:t>Dynamic Filtering</a:t>
            </a:r>
            <a:endParaRPr sz="1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1463040" y="555955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5F66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B5F66"/>
                </a:solidFill>
                <a:latin typeface="Calibri"/>
                <a:ea typeface="Calibri"/>
                <a:cs typeface="Calibri"/>
                <a:sym typeface="Calibri"/>
              </a:rPr>
              <a:t>Market, category and brand slicers for self-serve exploration.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892040" y="1874520"/>
            <a:ext cx="6751015" cy="4407408"/>
          </a:xfrm>
          <a:prstGeom prst="roundRect">
            <a:avLst>
              <a:gd name="adj" fmla="val 1245"/>
            </a:avLst>
          </a:prstGeom>
          <a:solidFill>
            <a:srgbClr val="FFFFFF"/>
          </a:solidFill>
          <a:ln w="12700" cap="flat" cmpd="sng">
            <a:solidFill>
              <a:srgbClr val="E3E3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5120640" y="2020824"/>
            <a:ext cx="629381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83A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8FA83A"/>
                </a:solidFill>
                <a:latin typeface="Calibri"/>
                <a:ea typeface="Calibri"/>
                <a:cs typeface="Calibri"/>
                <a:sym typeface="Calibri"/>
              </a:rPr>
              <a:t>LIVE DASHBOARD PREVIEW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1" descr="494c3215-b3a5-4d52-97c7-a6287a17247c.jpe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89058" y="2485956"/>
            <a:ext cx="6156978" cy="348628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1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12" title="The Dashboar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"/>
          <p:cNvSpPr/>
          <p:nvPr/>
        </p:nvSpPr>
        <p:spPr>
          <a:xfrm>
            <a:off x="548640" y="356616"/>
            <a:ext cx="201168" cy="182880"/>
          </a:xfrm>
          <a:prstGeom prst="triangle">
            <a:avLst>
              <a:gd name="adj" fmla="val 50000"/>
            </a:avLst>
          </a:prstGeom>
          <a:solidFill>
            <a:srgbClr val="C7EA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841248" y="320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TechCatalog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1463040" y="3017520"/>
            <a:ext cx="9235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-US" sz="2400" i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 for your time and attention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TechCatalog  ·  Saudi Digital Academy Data Engineering Bootcamp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13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875" y="594350"/>
            <a:ext cx="2587750" cy="25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شاشة عريضة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Cambria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Khaled M. Alshamari</cp:lastModifiedBy>
  <cp:revision>1</cp:revision>
  <dcterms:modified xsi:type="dcterms:W3CDTF">2026-09-29T18:11:34Z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9dbb525-309b-4e5c-8cca-57fa2a943eb5_Enabled">
    <vt:lpwstr>true</vt:lpwstr>
  </property>
  <property fmtid="{D5CDD505-2E9C-101B-9397-08002B2CF9AE}" pid="3" name="MSIP_Label_49dbb525-309b-4e5c-8cca-57fa2a943eb5_SetDate">
    <vt:lpwstr>2026-09-29T18:11:33Z</vt:lpwstr>
  </property>
  <property fmtid="{D5CDD505-2E9C-101B-9397-08002B2CF9AE}" pid="4" name="MSIP_Label_49dbb525-309b-4e5c-8cca-57fa2a943eb5_Method">
    <vt:lpwstr>Standard</vt:lpwstr>
  </property>
  <property fmtid="{D5CDD505-2E9C-101B-9397-08002B2CF9AE}" pid="5" name="MSIP_Label_49dbb525-309b-4e5c-8cca-57fa2a943eb5_Name">
    <vt:lpwstr>Restricted-مقيد</vt:lpwstr>
  </property>
  <property fmtid="{D5CDD505-2E9C-101B-9397-08002B2CF9AE}" pid="6" name="MSIP_Label_49dbb525-309b-4e5c-8cca-57fa2a943eb5_SiteId">
    <vt:lpwstr>d4c5463a-2261-468e-ab80-6679cc2455a0</vt:lpwstr>
  </property>
  <property fmtid="{D5CDD505-2E9C-101B-9397-08002B2CF9AE}" pid="7" name="MSIP_Label_49dbb525-309b-4e5c-8cca-57fa2a943eb5_ActionId">
    <vt:lpwstr>29cc3450-73c3-4149-92de-8887c4fd05b9</vt:lpwstr>
  </property>
  <property fmtid="{D5CDD505-2E9C-101B-9397-08002B2CF9AE}" pid="8" name="MSIP_Label_49dbb525-309b-4e5c-8cca-57fa2a943eb5_ContentBits">
    <vt:lpwstr>2</vt:lpwstr>
  </property>
  <property fmtid="{D5CDD505-2E9C-101B-9397-08002B2CF9AE}" pid="9" name="MSIP_Label_49dbb525-309b-4e5c-8cca-57fa2a943eb5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Restricted - مقيد</vt:lpwstr>
  </property>
</Properties>
</file>